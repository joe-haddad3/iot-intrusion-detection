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84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77257" y="500743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Intrusion Detection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</a:t>
            </a:r>
            <a:endParaRPr lang="en-US" sz="3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A5B2D31-EBE0-5DD3-7705-434D81F7C6E4}"/>
              </a:ext>
            </a:extLst>
          </p:cNvPr>
          <p:cNvSpPr/>
          <p:nvPr/>
        </p:nvSpPr>
        <p:spPr>
          <a:xfrm>
            <a:off x="251678" y="426792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Presented by: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Charbel Eid (230251)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Joe Haddad (232166)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Elie El Saddy(231342)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19182F8-8F53-580F-78AF-DC10B0BE4737}"/>
              </a:ext>
            </a:extLst>
          </p:cNvPr>
          <p:cNvSpPr/>
          <p:nvPr/>
        </p:nvSpPr>
        <p:spPr>
          <a:xfrm>
            <a:off x="3350478" y="267788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Date: 29/04/2025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Class Imbalance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— CIC IoT 2023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Trebuchet MS" pitchFamily="34" charset="0"/>
              </a:rPr>
              <a:t>Real IoT lab environment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Dozens of CSV files, each representing a specific attack scenario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Severe imbalance: some classes had only 10–20 rows, others had 100,000+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Solution: rebuilt dataset from raw files: took ALL rare attack rows, capped well-represented classes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1007001"/>
            <a:ext cx="1920240" cy="1097280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79592" y="1080153"/>
            <a:ext cx="1773936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3.45M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879592" y="1610505"/>
            <a:ext cx="1773936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Network Flows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2689497"/>
            <a:ext cx="1920240" cy="1097280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79592" y="2762649"/>
            <a:ext cx="1773936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79592" y="3293001"/>
            <a:ext cx="1773936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Distribution — Severe Imbalance Across 34 Attack Types And BENIGN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512064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Shows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3716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classes (DDOS-ICMP, UDP) have 100K+ samples — model learns these easily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tail: XSS, RECON-PINGSWEEP, UPLOADING_ATTACK near zero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BENIGN sits in the middle — not extreme but still imbalanced vs attacks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3891570"/>
            <a:ext cx="1920240" cy="1097280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3964722"/>
            <a:ext cx="1773936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45152" y="4495074"/>
            <a:ext cx="1773936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Largest Class (</a:t>
            </a:r>
            <a:r>
              <a:rPr lang="en-US" sz="1100" dirty="0" err="1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DDoS_ICMP_FLOOD</a:t>
            </a: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71211" y="3891570"/>
            <a:ext cx="1920240" cy="1097280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4363" y="3964722"/>
            <a:ext cx="1773936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1,017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4363" y="4495074"/>
            <a:ext cx="1773936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Smallest Class (UPLOAD_ATTACK)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 — t-SNE (34 Classes, 14,994 samples)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_tsn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58" y="965200"/>
            <a:ext cx="7837714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Pipeline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Data Preparation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5954"/>
            <a:ext cx="1554480" cy="1188720"/>
          </a:xfrm>
          <a:prstGeom prst="rect">
            <a:avLst/>
          </a:prstGeom>
          <a:solidFill>
            <a:srgbClr val="14BDBD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2167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7031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Network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970314"/>
            <a:ext cx="1828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03120" y="1375954"/>
            <a:ext cx="1554480" cy="1188720"/>
          </a:xfrm>
          <a:prstGeom prst="rect">
            <a:avLst/>
          </a:prstGeom>
          <a:solidFill>
            <a:srgbClr val="B2EBF2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142167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Transformation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97031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Skewed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970314"/>
            <a:ext cx="1828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0" y="1375954"/>
            <a:ext cx="1554480" cy="1188720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142167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97031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970314"/>
            <a:ext cx="1828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77840" y="1375954"/>
            <a:ext cx="1554480" cy="1188720"/>
          </a:xfrm>
          <a:prstGeom prst="rect">
            <a:avLst/>
          </a:prstGeom>
          <a:solidFill>
            <a:srgbClr val="B2EBF2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7840" y="142167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197031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RobustScaler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1970314"/>
            <a:ext cx="1828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0" y="1375954"/>
            <a:ext cx="1554480" cy="1188720"/>
          </a:xfrm>
          <a:prstGeom prst="rect">
            <a:avLst/>
          </a:prstGeom>
          <a:solidFill>
            <a:srgbClr val="14BDBD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142167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197031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Used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838994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Variance-based selection removed 12 near-constant (no-information) features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split 85/15 → 2.93M training rows, 517K test rows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set never touched during training or tuning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&amp; Selection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Models — From Simple to Advanced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604717"/>
              </p:ext>
            </p:extLst>
          </p:nvPr>
        </p:nvGraphicFramePr>
        <p:xfrm>
          <a:off x="274320" y="914401"/>
          <a:ext cx="8595360" cy="400050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Macro F1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Accuracy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Technique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Logistic Regression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0.440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58.5%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Baseline, class_weight=balanced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charset="0"/>
                          <a:cs typeface="Trebuchet MS" charset="0"/>
                        </a:rPr>
                        <a:t>Neural Net (Focal)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charset="0"/>
                          <a:cs typeface="Trebuchet MS" charset="0"/>
                        </a:rPr>
                        <a:t>0.541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charset="0"/>
                          <a:cs typeface="Trebuchet MS" charset="0"/>
                        </a:rPr>
                        <a:t>67.3%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charset="0"/>
                          <a:cs typeface="Trebuchet MS" charset="0"/>
                        </a:rPr>
                        <a:t>Focal Loss for hard examples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309727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Neural Net (CE Loss)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0.562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71.1%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4-layer MLP, Batch Norm + Dropout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Random Forest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0.586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76.4%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3-fold CV, class_weight=balanced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XGBoost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0.611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76.5%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GPU-accelerated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LightGBM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0.615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77.0%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Leaf-wise growth, early stopping @ 830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LightGBM + SMOTE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0.647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79.7%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Synthetic minority oversampling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LightGBM + SMOTE (Optuna)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0.648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79.9%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Bayesian tuning, 8 trials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Stacking Ensemble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0.660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81.0%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RF + XGB + LGBM + NN meta-model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2D3748"/>
                          </a:solidFill>
                          <a:latin typeface="Trebuchet MS" pitchFamily="34" charset="0"/>
                        </a:rPr>
                        <a:t>Binary </a:t>
                      </a:r>
                      <a:r>
                        <a:rPr lang="en-US" sz="1200" kern="1200" dirty="0" err="1">
                          <a:solidFill>
                            <a:srgbClr val="2D3748"/>
                          </a:solidFill>
                          <a:latin typeface="Trebuchet MS" pitchFamily="34" charset="0"/>
                        </a:rPr>
                        <a:t>LightGBM</a:t>
                      </a:r>
                      <a:endParaRPr lang="en-US" sz="1200" kern="1200" dirty="0">
                        <a:solidFill>
                          <a:srgbClr val="2D3748"/>
                        </a:solidFill>
                        <a:latin typeface="Trebuchet MS" pitchFamily="34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2D3748"/>
                          </a:solidFill>
                          <a:latin typeface="Trebuchet MS" pitchFamily="34" charset="0"/>
                        </a:rPr>
                        <a:t>0.973</a:t>
                      </a:r>
                      <a:endParaRPr lang="en-US" sz="1200" kern="1200" dirty="0">
                        <a:solidFill>
                          <a:srgbClr val="2D3748"/>
                        </a:solidFill>
                        <a:latin typeface="Trebuchet MS" pitchFamily="34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2D3748"/>
                          </a:solidFill>
                          <a:latin typeface="Trebuchet MS" pitchFamily="34" charset="0"/>
                        </a:rPr>
                        <a:t>94.9%</a:t>
                      </a:r>
                      <a:endParaRPr lang="en-US" sz="1200" kern="1200" dirty="0">
                        <a:solidFill>
                          <a:srgbClr val="2D3748"/>
                        </a:solidFill>
                        <a:latin typeface="Trebuchet MS" pitchFamily="34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200" dirty="0">
                          <a:solidFill>
                            <a:srgbClr val="2D3748"/>
                          </a:solidFill>
                          <a:latin typeface="Trebuchet MS" pitchFamily="34" charset="0"/>
                        </a:rPr>
                        <a:t>Threshold-optimized, BENIGN vs ATTACK</a:t>
                      </a:r>
                      <a:endParaRPr lang="en-US" sz="1200" kern="1200" dirty="0">
                        <a:solidFill>
                          <a:srgbClr val="2D3748"/>
                        </a:solidFill>
                        <a:latin typeface="Trebuchet MS" pitchFamily="34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6056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 — MLP Training Curves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_mlp_train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converges smoothly — no overfitting. </a:t>
            </a:r>
            <a:r>
              <a:rPr lang="en-US" sz="13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Val Macro F1 = 0.5651 (Phase 1). Neural networks underperform tree models on this tabular dataset.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SMOTE + LightGBM — Per-Class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_smote_lgbm_metric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53035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52160" y="13716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bars = SMOTE-augmented minority classes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Flood-type attacks: F1 ≈ 0.99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Rare attacks (XSS, SQLI, UPLOAD): F1 &lt; 0.15 — insufficient training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 avg F1 = 0.647 pulled down by rare classes</a:t>
            </a:r>
            <a:endParaRPr lang="en-US" sz="1500" dirty="0"/>
          </a:p>
          <a:p>
            <a:pPr>
              <a:spcAft>
                <a:spcPts val="600"/>
              </a:spcAft>
              <a:buSzPct val="100000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sym typeface="Wingdings" panose="05000000000000000000" pitchFamily="2" charset="2"/>
              </a:rPr>
              <a:t> </a:t>
            </a: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a data problem, not a model problem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457200"/>
            <a:ext cx="2735943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Comparison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10 Models — Macro F1 vs Accuracy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_model_comparis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LightGBM dramatically outperforms all multiclass models: F1 = 0.973, Acc = 0.949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LightGBM — Confusion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_binary_confus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41148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005840"/>
            <a:ext cx="1554480" cy="100584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33872" y="1078992"/>
            <a:ext cx="140817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0.9725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33872" y="1662379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06640" y="1005840"/>
            <a:ext cx="1554480" cy="100584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79792" y="1078992"/>
            <a:ext cx="140817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0.9492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79792" y="1653235"/>
            <a:ext cx="1408176" cy="2743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194560"/>
            <a:ext cx="155448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33872" y="2267712"/>
            <a:ext cx="140817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0.9833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833872" y="2852471"/>
            <a:ext cx="1408176" cy="2862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ROC-AUC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06640" y="2194560"/>
            <a:ext cx="1554480" cy="100584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79792" y="2267712"/>
            <a:ext cx="140817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9.74%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479792" y="2862530"/>
            <a:ext cx="1408176" cy="2862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Positive Rate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60720" y="3383280"/>
            <a:ext cx="3200400" cy="100584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33872" y="3456432"/>
            <a:ext cx="305409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4.82%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833872" y="3936492"/>
            <a:ext cx="3054096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Negative Rate — catches 95.2% of attacks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77840" y="4572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optimized: maximize attack recall while keeping FPR &lt; 10%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 vs FN Trade-off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Positives vs False Negatives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474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Positive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 traffic flagged as attack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fatigue for analysts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Wastes investigation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Annoying but not dangerous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Constrained to &lt; 10% (9.74%)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384048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Negative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attack missed entirely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 — attack goes undetected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breach or system compromise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Much higher cost than FP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Minimized to 4.82% → 95.2% catch rate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 design trade-off: we accepted more false alarms to minimize missed attacks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457200"/>
            <a:ext cx="2873829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&amp; Deployment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REST API — FastAPI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endpoint per model (9 total)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/predict/all — runs all models simultaneously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predictions + majority vote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Low-latency inference on incoming network flows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Rolling window of last 500 predictions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drift — detected via Z-scores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mix drift — shift in attack distribution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rate spikes — sudden surge detection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0" cy="32004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8221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Architecture: Real network flow → Feature extraction (27 features) → Preprocessing → FastAPI → Model ensemble → Binary/Multiclass prediction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412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0607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End-to-End IDS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raw CSV files to a deployed REST API with drift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020824"/>
            <a:ext cx="5277394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Imbalance Was the Core Challenge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048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SMOTE was the single most impactful technique across all experiments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01845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047565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056709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Multiclass: Data Bottleneck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440757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Rare classes (&lt;1,000 samples) cannot be reliably learned — a data problem, not a model problem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773</Words>
  <Application>Microsoft Office PowerPoint</Application>
  <PresentationFormat>On-screen Show (16:9)</PresentationFormat>
  <Paragraphs>182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Intrusion Detection System — ML Project</dc:title>
  <dc:subject>PptxGenJS Presentation</dc:subject>
  <dc:creator>PptxGenJS</dc:creator>
  <cp:lastModifiedBy>Charbel Eid</cp:lastModifiedBy>
  <cp:revision>8</cp:revision>
  <dcterms:created xsi:type="dcterms:W3CDTF">2026-04-26T08:55:29Z</dcterms:created>
  <dcterms:modified xsi:type="dcterms:W3CDTF">2026-04-26T14:12:58Z</dcterms:modified>
</cp:coreProperties>
</file>